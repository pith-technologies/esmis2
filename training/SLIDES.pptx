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Developer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ACC"/>
                </a:solidFill>
                <a:latin typeface="Calibri"/>
              </a:defRPr>
            </a:pPr>
            <a:r>
              <a:t>Student Information System — Odoo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Hands-on workshop with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Edwin Gonzales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March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Section 1: Odoo 19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What Is Odoo?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Open-source ERP / business application platform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Modular: install only what you need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Python backend, PostgreSQL database, JS/OWL frontend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Huge ecosystem: 30k+ community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What's New in Odoo 19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Command API</a:t>
            </a:r>
            <a:r>
              <a:rPr sz="1300">
                <a:solidFill>
                  <a:srgbClr val="2D2D2D"/>
                </a:solidFill>
                <a:latin typeface="Calibri"/>
              </a:rPr>
              <a:t> replaces tuple syntax for One2many / Many2many writes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Old: `(0, 0, {...})`, `(4, id, 0)`, `(6, 0, [ids])`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New: `Command.create({...})`, `Command.link(id)`, `Command.set([ids])`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`privilege_id` field on `res.groups` — links functional groups to a `res.groups.privilege` record (used alongside `category_id`, not a replacement)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`group_expand` signature changed to 2 parameters: `(self, stages, domain)`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XPath `hasclass()` function — use instead of `@class="..."` selectors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Upgraded JS framework (OWL 2.x)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Module Architecture — Bird's Eye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Addons path: directories that Odoo scans for modules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Each module = one directory with `__manifest__.py`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Module = self-contained feature unit (models + views + security + tests)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Module Directory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27178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my_module/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- __init__.py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- __manifest__.py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- models/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- __init__.py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- views/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- security/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- ir.model.access.csv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- data/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- demo/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- tests/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- __init__.py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- readme/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- DESCRIPTION.md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`__manifest__.py` — Module Metadata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`name`, `version`, `category`, `depends`, `data`, `license`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`application` flag: creates a top-level menu entry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`auto_install`: installs automatically when all `depends` are present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Version format: `19.0.1.0.0`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The ORM — Object-Relational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Python classes → database tables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`_name` = table identity (e.g. `"my.model"` → `my_model`)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`_inherit` = extend an existing model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`_description` = human-readable label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Field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Name,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required, index, translate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Text / Html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Rich text with Html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Integer / 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Quantities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digits for precision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Boolean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Flags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Convention: is_, has_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Date / 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Timestamps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Selection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State machine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Fixed choices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Many2one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FK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comodel_name, ondelete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One2many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Reverse FK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inverse_name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Many2many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Join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Computed Fields &amp; Decorators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`@api.depends('field')` — recompute when dependency changes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`@api.constrains('field')` — validate on write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`@api.onchange('field')` — UI-only live feedback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`@api.model` — class-level method (no `self` recordset)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CRUD &amp; Business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`create(vals_list)` — insert records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`write(vals)` — update records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`unlink()` — delete records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`search(domain)` / `browse(ids)` — read records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Custom action methods: `action_confirm()`, `action_cancel()`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Inheritance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Classical inheritance</a:t>
            </a:r>
            <a:r>
              <a:rPr sz="1300">
                <a:solidFill>
                  <a:srgbClr val="2D2D2D"/>
                </a:solidFill>
                <a:latin typeface="Calibri"/>
              </a:rPr>
              <a:t> (`_inherit` without `_name`): extend existing model in-place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Prototype inheritance</a:t>
            </a:r>
            <a:r>
              <a:rPr sz="1300">
                <a:solidFill>
                  <a:srgbClr val="2D2D2D"/>
                </a:solidFill>
                <a:latin typeface="Calibri"/>
              </a:rPr>
              <a:t> (`_inherit` + `_name`): copy model definition into new table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Delegation</a:t>
            </a:r>
            <a:r>
              <a:rPr sz="1300">
                <a:solidFill>
                  <a:srgbClr val="2D2D2D"/>
                </a:solidFill>
                <a:latin typeface="Calibri"/>
              </a:rPr>
              <a:t> (`_inherits`): composition — link to parent record via FK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Most common in practice: classical (`_inherit = "res.partner"`)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Views — How Users See Your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Models define *data*; views define *presentation*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Views are XML records stored in the database — not templates on disk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Odoo resolves the "best" view for a model automatically (inheritance, priority)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Three view types you'll use constantly: **form**, **list**, **search**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702560"/>
          <a:ext cx="106984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View Type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Element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Create / edit a single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&lt;form&gt;, &lt;sheet&gt;, &lt;notebook&gt;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List (tree)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Browse multiple records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&lt;list&gt;, &lt;field&gt; columns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Filter and group the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&lt;search&gt;, &lt;filter&gt;, &lt;group&gt;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35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Other view types: kanban, calendar, pivot, graph, gantt, map, activity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Anatomy of a Form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36576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&lt;form&gt;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&lt;header&gt;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&lt;!-- Status bar + action buttons --&gt;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&lt;button name="action_confirm" string="Confirm" type="object"/&gt;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&lt;field name="state" widget="statusbar"/&gt;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&lt;/header&gt;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&lt;sheet&gt;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&lt;div class="oe_title"&gt;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&lt;h1&gt;&lt;field name="name"/&gt;&lt;/h1&gt;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&lt;/div&gt;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&lt;group&gt;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&lt;group string="Left Column"&gt;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&lt;field name="code"/&gt;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&lt;/group&gt;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&lt;group string="Right Column"&gt;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&lt;field name="date"/&gt;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&lt;/group&gt;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&lt;/group&gt;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&lt;notebook&gt;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&lt;page string="Details"&gt;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&lt;field name="description"/&gt;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&lt;/page&gt;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&lt;/notebook&gt;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&lt;/sheet&gt;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&lt;/form&gt;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90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`&lt;header&gt;` — status bar and action buttons only (minimal)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`&lt;sheet&gt;` — the white card area; all editable content goes here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`&lt;group&gt;` nesting — two `&lt;group&gt;` inside a `&lt;group&gt;` = two-column layout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`&lt;notebook&gt;` + `&lt;page&gt;` — tabbed sections for organizing fields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Section 1B: Python for Odoo Developers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Why Python?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Odoo is built on Python — backend, ORM, business logic, tests, CLI tools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Python handles: model definitions, controllers, wizards, cron jobs, migrations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JS/OWL handles: frontend UI components (not covered in this training)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Everything you write today is Python (+ XML for views and data)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Python Concepts Odoo Relies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Odoo Uses It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Classes &amp; inheritance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Every model is a class; _inherit maps to Python MRO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Decorators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@api.depends, @api.constrains, @api.onchange, @api.model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Context managers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with self.assertRaises(...), with self.env.cr.savepoint()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List comprehensions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Filtering records, building vals lists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Dunder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__init__.py for package imports, _name / _inherit for ORM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args / kwargs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Controller routes, method overrides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Classes &amp; Inheritance in Odoo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8923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# Every Odoo model is a Python class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class Course(models.Model):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_name = "sis.course"          # DB table identity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_description = "Course"       # Human label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# Extending an existing model — Python MRO handles method resolution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class ResPartner(models.Model):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_inherit = "res.partner"      # No new table — extends in place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is_student = fields.Boolean()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2486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`models.Model` = persistent (stored in DB)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`models.TransientModel` = temporary (wizards, cleaned up automatically)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`models.AbstractModel` = no table, mixin only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Decorators That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22225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@api.depends("enrollment_ids.state")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def _compute_completed_count(self):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"""Recomputes when dependency changes — cached until then."""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@api.constrains("student_number")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def _check_student_number(self):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"""Runs on write — raises ValidationError if invalid."""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@api.onchange("is_student")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def _onchange_is_student(self):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"""UI-only — sets defaults live in the form, not saved yet."""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50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Decorators = metadata telling the ORM *when* to call your method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`@api.depends` → computed fields (stored or virtual)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`@api.constrains` → validation (server-side, on save)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`@api.onchange` → UI responsiveness (client-side feel, server-side logic)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`self` Is a Recordset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397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def action_enroll(self):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# self can be ONE record or MANY — always iterate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for record in self: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if record.state != "draft":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raise UserError(_("Cannot enroll from state %s.") % record.state)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record.state = "enrolled"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295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`self` is not a single object — it's a **recordset** (0, 1, or many records)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`self.ensure_one()` — asserts exactly one record (raises if not)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Always loop with `for record in self:` for multi-record safety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`self.filtered(lambda r: r.state == 'draft')` — filter without looping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Context, Environment &amp; `sudo()`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5621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self.env                         # Current environment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self.env.user                    # Current user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self.env.company                 # Current company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self.env.context                 # Dict of context flags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self.with_context(key=value)     # New env with extra context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self.sudo()                      # Bypass access rights (use sparingly!)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self.with_user(user)             # Switch to another user's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946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`env` carries: user, company, database cursor, context flags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`sudo()` is powerful but dangerous — bypasses all ACLs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In tests: use `with_user()` to verify security works for each role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Context flags: `tracking_disable=True` (skip mail), `default_*` (form defaults)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Domains — Odoo's Query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7272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# Domains are lists of (field, operator, value) tuples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[("is_student", "=", True)]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[("state", "in", ["draft", "enrolled"])]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[("enrollment_date", "&gt;=", "2026-01-01")]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# Boolean operators prefix the conditions they combine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["&amp;", ("is_student", "=", True), ("program", "!=", False)]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["|", ("state", "=", "completed"), ("state", "=", "dropped")]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97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Used in: `search()`, view filters, record rules, field domains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Implicit `&amp;` (AND) between conditions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Operators: `=`, `!=`, `&gt;`, `&gt;=`, `&lt;`, `&lt;=`, `in`, `not in`, `like`, `ilike`, `child_of`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`"&amp;"`, `"|"`, `"!"` for boolean logic (Polish notation)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Testing with `unittest` + Odoo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3048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from odoo.tests.common import TransactionCase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class TestCourse(TransactionCase):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@classmethod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def setUpClass(cls):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super().setUpClass()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cls.Course = cls.env["sis.course"]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def test_create_course(self):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course = self.Course.create({"name": "CS101", "code": "CS101"})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self.assertEqual(course.name, "CS101")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def test_duplicate_rejected(self):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self.Course.create({"name": "CS101", "code": "CS101"})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with self.assertRaises(Exception):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self.Course.create({"name": "CS102", "code": "CS101"})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`TransactionCase` — each test runs in a transaction, rolled back after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`HttpCase` — for testing web controllers (starts real HTTP server)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`setUpClass` creates shared test data (runs once per class)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Standard `unittest` assertions: `assertEqual`, `assertTrue`, `assertRaises`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Why Tests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Odoo modules are deeply interconnected</a:t>
            </a:r>
            <a:r>
              <a:rPr sz="1300">
                <a:solidFill>
                  <a:srgbClr val="2D2D2D"/>
                </a:solidFill>
                <a:latin typeface="Calibri"/>
              </a:rPr>
              <a:t> — a change in one model can break views, security, workflows, and other modules that depend on it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Without tests, you only find out something is broken when a user reports it in production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With tests, you find out **in seconds**, before the code leaves your machine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42316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Tests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Tests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"It works on my screen"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Proof it works — on every screen, every time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Afraid to refactor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Refactor with confidence — tests catch regressions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Manual QA after every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Automated verification in seconds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Bugs found by users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Bugs found by developers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Hours debugging in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Minutes debugging locally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495800"/>
            <a:ext cx="10698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TDD (Test-Driven Development)</a:t>
            </a:r>
            <a:r>
              <a:rPr sz="1300">
                <a:solidFill>
                  <a:srgbClr val="2D2D2D"/>
                </a:solidFill>
                <a:latin typeface="Calibri"/>
              </a:rPr>
              <a:t> — write the test *first*, then the code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Forces you to think about *what* before *how*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The test is both specification and verification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In this lab, every phase writes tests before implementation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Tests are not extra work — they are **insurance** that pays for itself on the first bug they catch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Section 2: Development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What Is Docker?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 tool that packages applications into **containers** — lightweight, isolated environments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 container bundles the app + its dependencies + its configuration into one unit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"Works on my machine" → "Works in the container" (same everywhere)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Not a VM — containers share the host OS kernel, so they start in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2702560"/>
            <a:ext cx="8229600" cy="29260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2169160" y="2829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Your Machine (Host 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3251200"/>
            <a:ext cx="3337560" cy="1463040"/>
          </a:xfrm>
          <a:prstGeom prst="roundRect">
            <a:avLst>
              <a:gd name="adj" fmla="val 4000"/>
            </a:avLst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D2D2D"/>
                </a:solidFill>
                <a:latin typeface="Calibri"/>
              </a:defRPr>
            </a:pPr>
            <a:r>
              <a:t>Container: Odoo 19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Python 3.12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Dependencies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251200"/>
            <a:ext cx="3337560" cy="1463040"/>
          </a:xfrm>
          <a:prstGeom prst="roundRect">
            <a:avLst>
              <a:gd name="adj" fmla="val 4000"/>
            </a:avLst>
          </a:prstGeom>
          <a:solidFill>
            <a:srgbClr val="E8FDE8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D2D2D"/>
                </a:solidFill>
                <a:latin typeface="Calibri"/>
              </a:defRPr>
            </a:pPr>
            <a:r>
              <a:t>Container: PostgreSQL 18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Database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521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Shared OS Kernel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Docker 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Analogy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Read-only blueprint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 recipe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Container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Running instance of an image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 dish cooked from the recipe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Dockerfile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Instructions to build an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The recipe card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Persistent storage outside the container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 fridge — data survives restarts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Communication channel between containers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 kitchen intercom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Docker Compose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Define multi-container apps in one YAML file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 meal plan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7284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`docker compose up` — start all services defined in `docker-compose.yml`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`docker compose down` — stop and remove containers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Our `./odoo-project` CLI wraps these commands for convenience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Project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08760" y="1280160"/>
            <a:ext cx="9144000" cy="4114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711960" y="138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Host Machine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828800"/>
            <a:ext cx="3474720" cy="1097280"/>
          </a:xfrm>
          <a:prstGeom prst="roundRect">
            <a:avLst>
              <a:gd name="adj" fmla="val 4000"/>
            </a:avLst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D2D2D"/>
                </a:solidFill>
                <a:latin typeface="Calibri"/>
              </a:defRPr>
            </a:pPr>
            <a:r>
              <a:t>odoo-app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(ui profile) · Port 8069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28800"/>
            <a:ext cx="3474720" cy="1097280"/>
          </a:xfrm>
          <a:prstGeom prst="roundRect">
            <a:avLst>
              <a:gd name="adj" fmla="val 4000"/>
            </a:avLst>
          </a:prstGeom>
          <a:solidFill>
            <a:srgbClr val="E8FDE8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D2D2D"/>
                </a:solidFill>
                <a:latin typeface="Calibri"/>
              </a:defRPr>
            </a:pPr>
            <a:r>
              <a:t>db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PostgreSQL 18 (PostGIS)</a:t>
            </a:r>
          </a:p>
        </p:txBody>
      </p:sp>
      <p:sp>
        <p:nvSpPr>
          <p:cNvPr id="8" name="Left-Right Arrow 7"/>
          <p:cNvSpPr/>
          <p:nvPr/>
        </p:nvSpPr>
        <p:spPr>
          <a:xfrm>
            <a:off x="5715000" y="2286000"/>
            <a:ext cx="731520" cy="182880"/>
          </a:xfrm>
          <a:prstGeom prst="leftRight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40280" y="3200400"/>
            <a:ext cx="3474720" cy="1097280"/>
          </a:xfrm>
          <a:prstGeom prst="roundRect">
            <a:avLst>
              <a:gd name="adj" fmla="val 4000"/>
            </a:avLst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D2D2D"/>
                </a:solidFill>
                <a:latin typeface="Calibri"/>
              </a:defRPr>
            </a:pPr>
            <a:r>
              <a:t>odoo-dev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(dev profile) · dynamic 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200400"/>
            <a:ext cx="3474720" cy="109728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D2D2D"/>
                </a:solidFill>
                <a:latin typeface="Calibri"/>
              </a:defRPr>
            </a:pPr>
            <a:r>
              <a:t>test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(one-off) · isolated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4434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Volumes: postgres_data, odoo_data    |    Network: odoo-net (bridge)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Docker Compose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(always)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PostgreSQL 18 with PostGIS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odoo-app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8069 (fixed)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Stable UI development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odoo-dev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dynamic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Dev with auto-reload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(one-off)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Isolated test runner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032760"/>
            <a:ext cx="1069848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Your custom modules are mounted read-only into the container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Database persists in a Docker volume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The `odoo-project` CLI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Single entry point for all development tasks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Python-based, cross-platform (macOS, Linux, Windows WSL)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Wraps Docker Compose commands with project conventions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Tab completion via `./odoo-project activate`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Command aliases: `t` = test, `s` = start, `b` = build, `l` = logs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Essential CLI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7272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doctor          # Check prerequisites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build           # Build Docker image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start           # Start (http://localhost:8069)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stop            # Stop services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stop -v -y      # Stop + delete volumes (clean slate)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test my_module  # Run tests (isolated container)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logs -f         # Follow live logs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shell           # Interactive Odoo shell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More CLI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397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resetdb --demo=base  # Fresh DB with demo data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update               # Upgrade changed modules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lint                  # Run linters (changed files)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sql "SELECT 1"       # Run SQL directly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url -o               # Open Odoo in browser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status               # Show running containers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What Are Pre-Commit Hooks?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Pre-commit</a:t>
            </a:r>
            <a:r>
              <a:rPr sz="1300">
                <a:solidFill>
                  <a:srgbClr val="2D2D2D"/>
                </a:solidFill>
                <a:latin typeface="Calibri"/>
              </a:rPr>
              <a:t> is a framework for managing git hook scripts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Hooks run **automatically** before each `git commit` — if they fail, the commit is blocked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Purpose: catch problems *before* they enter the codebase, not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2423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onsolas"/>
              </a:defRPr>
            </a:pPr>
            <a:r>
              <a:t>git commit -m "feat: add student model"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66460" y="2788920"/>
            <a:ext cx="228600" cy="274320"/>
          </a:xfrm>
          <a:prstGeom prst="down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3108960"/>
            <a:ext cx="5486400" cy="1645920"/>
          </a:xfrm>
          <a:prstGeom prst="roundRect">
            <a:avLst>
              <a:gd name="adj" fmla="val 4000"/>
            </a:avLst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2D2D2D"/>
                </a:solidFill>
                <a:latin typeface="Calibri"/>
              </a:defRPr>
            </a:pPr>
            <a:r>
              <a:t>Pre-commit hooks run automatically: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  ✓  Linter (ruff) — catches bugs &amp; style issues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  ✓  Formatter (ruff-format) — consistent style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  ✓  XML/MD (prettier) — clean formatting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>
                <a:solidFill>
                  <a:srgbClr val="2D2D2D"/>
                </a:solidFill>
                <a:latin typeface="Calibri"/>
              </a:defRPr>
            </a:pPr>
            <a:r>
              <a:t>  ✗  Syntax error! — blocks the commit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66460" y="4800600"/>
            <a:ext cx="228600" cy="274320"/>
          </a:xfrm>
          <a:prstGeom prst="down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5120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Fix the issue, stage changes, then commit again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38800"/>
            <a:ext cx="1069848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Configured in `.pre-commit-config.yaml` at the project root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Install once: `pre-commit install` (runs automatically after that)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Our Pre-Commit Hooks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Hook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Checks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ruff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Linting — unused imports, bad patterns, style issues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ruff-format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Formatting — consistent indentation, line length, spacing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prettier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XML, MD,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Formatting — consistent markup and data files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Custom Odoo linters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Python/XML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Project-specific rules (naming, security patterns)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0327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Run manually on specific files: `pre-commit run --files path/to/file.py`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Run all hooks on all files: `pre-commit run --all-files`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Or use the CLI shortcut: `./odoo-project lint`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Auto-fix most issues: `./odoo-project fix-lint &lt;module&gt;`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What Is GitHub?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Git</a:t>
            </a:r>
            <a:r>
              <a:rPr sz="1300">
                <a:solidFill>
                  <a:srgbClr val="2D2D2D"/>
                </a:solidFill>
                <a:latin typeface="Calibri"/>
              </a:rPr>
              <a:t> = version control system (tracks changes to files locally)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GitHub</a:t>
            </a:r>
            <a:r>
              <a:rPr sz="1300">
                <a:solidFill>
                  <a:srgbClr val="2D2D2D"/>
                </a:solidFill>
                <a:latin typeface="Calibri"/>
              </a:rPr>
              <a:t> = cloud platform that hosts Git repositories and adds collaboration tools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Key GitHub features we use: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42316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Repositories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Central home for project code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Branches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Isolated lines of development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Pull Requests (PRs)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Propose changes, get code review, merge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Issues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Track bugs, features, tasks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Actions (CI/CD)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Automated testing on every push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GitHub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23160" y="2011680"/>
            <a:ext cx="7315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1874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1874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(stable)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1899920"/>
            <a:ext cx="274320" cy="2743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99920"/>
            <a:ext cx="274320" cy="2743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94760" y="3108960"/>
            <a:ext cx="4114800" cy="508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B57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(your work)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0" y="2997200"/>
            <a:ext cx="274320" cy="2743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2997200"/>
            <a:ext cx="274320" cy="2743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997200"/>
            <a:ext cx="274320" cy="2743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commit          commit          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branch 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↗ merge 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18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1. Branch from main: git checkout -b feat/add-student-model 2. Commit changes incrementally (conventional commits) 3. Push to GitHub: git push -u origin feat/add-student-model 4. Open a PR — reviewers check the code, CI runs tests 5. Merge into main after approval 6. Delete the feature branch (it served its purpose)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Conventional Commits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Prefix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feat: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New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feat: add student model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fix: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Bug fix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fix: validate student number on save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test: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Adding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test: add enrollment state transition tests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docs: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Documentation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docs: update README with setup steps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refactor: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Code restructure (no behavior change)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refactor: extract enrollment validation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chore: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Maintenance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chore: update Docker base image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7284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Imperative mood, present tense: "add student model" not "added student model"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Subject line explains the *why* — the diff shows the *what*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Pre-commit hooks enforce code quality before the commit goes through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Configuration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~/.odoo-project.toml — personal defaults: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8160"/>
            <a:ext cx="10698480" cy="9017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default_profile = "dev"     # dev or ui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default_demo = "base"       # demo profile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default_db = "odoo"         # database name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Section 3: Claude Code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What Is Claude Code?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AI-powered CLI for software engineering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Understands your entire project context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Reads files, writes code, runs commands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Not a chatbot — a development partner with tool access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Project Configuration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397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CLAUDE.md                    ← Always loaded (project rules)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.claude/rules/*.md           ← Auto-loaded by file path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.claude/agents/*.md          ← Specialized subagents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.claude/commands/*.md        ← Slash commands (/implement, /commit)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.claude/settings.json        ← Team-shared permissions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.claude/settings.local.json  ← Personal permissions (not committed)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Path-Scoped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Rules auto-load when you edit matching files — no manual activation: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8816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 File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Triggers On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odoo-python.md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models/.py, wizard/.py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Naming, Command API, error handling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odoo-xml.md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views/.xml, data/.xml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View syntax, form layout, accessibility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security.md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security/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ACLs, groups, record rules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testing.md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tests/.py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Coverage targets, test patterns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module-setup.md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__manifest__.py, readme/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Visibility, architecture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What Are Agents?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An **agent** is a specialized Claude Code instance with a focused role and specific tool access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Think of them as **team members** — each has expertise, responsibilities, and boundaries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Defined in `.claude/agents/*.md` — a markdown file that describes the agent's persona, knowledge, and rules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Claude Code launches agents as **subprocesses** — they work independently and report 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02560"/>
            <a:ext cx="10698480" cy="18923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You (the developer)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ask Claude Code to implement a feature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Claude Code orchestrates agents: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- @odoo-developer  → writes the code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- @code-reviewer   → reviews for security &amp; quality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- @ux-expert       → checks form layouts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- @verify-module   → runs tests, confirms it works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Our Project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@odoo-developer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Sonnet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Read, Write, Edit, Bash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The builder — writes models, views, security, tests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@code-reviewer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Opus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Read, Grep, Glob, Bash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The reviewer — checks quality, security, Odoo 19 compliance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@ux-expert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Read, Glob, Grep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The designer — validates form layouts, UX patterns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@code-simplifier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Sonnet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Read, Edit, Glob, Grep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The cleaner — reduces complexity after implementation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@verify-module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Sonnet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Read, Bash, Glob, Grep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The tester — installs module, runs tests, scans for anti-patterns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352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Key differences: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6080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Sonnet</a:t>
            </a:r>
            <a:r>
              <a:rPr sz="1300">
                <a:solidFill>
                  <a:srgbClr val="2D2D2D"/>
                </a:solidFill>
                <a:latin typeface="Calibri"/>
              </a:rPr>
              <a:t> agents (faster, cheaper) → implementation and verification tasks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Opus</a:t>
            </a:r>
            <a:r>
              <a:rPr sz="1300">
                <a:solidFill>
                  <a:srgbClr val="2D2D2D"/>
                </a:solidFill>
                <a:latin typeface="Calibri"/>
              </a:rPr>
              <a:t> agents (deeper reasoning) → review and design tasks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Tool access varies</a:t>
            </a:r>
            <a:r>
              <a:rPr sz="1300">
                <a:solidFill>
                  <a:srgbClr val="2D2D2D"/>
                </a:solidFill>
                <a:latin typeface="Calibri"/>
              </a:rPr>
              <a:t> — `@code-reviewer` cannot write files (read-only review), `@odoo-developer` has full access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Agent Anatomy — What's in the File?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Each .claude/agents/*.md file has three parts: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8160"/>
            <a:ext cx="10698480" cy="17272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---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name: odoo-developer                          # How you reference 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description: Expert Odoo 19 developer...      # When Claude should use 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tools: Read, Write, Edit, Glob, Grep, Bash    # What it can do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model: sonnet                                 # Which AI model powers 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---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You are an expert Odoo 19 developer.          # Persona / system prompt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Required Reading Before Any Code Changes   # Rules and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Development Standards                      # Detailed instructions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How Agents Work Together — `/implement`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The /implement command orchestrates multiple agents in phases: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8160"/>
            <a:ext cx="10698480" cy="36576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Phase 1: Analyze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Claude reads the plan, breaks into tasks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Phase 2: Implement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@odoo-developer → writes models, security, views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@ux-expert      → reviews UI (runs in parallel)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Phase 3: Self-Verify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Claude runs linters and tests, fixes failures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Phase 4: Simplify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@code-simplifier → cleans up the code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Phase 5: Expert Review (all in parallel)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@code-reviewer  → security, naming, compliance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@ux-expert      → UI patterns (if views changed)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@verify-module  → end-to-end installation test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Phase 6: Final Verification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Claude reruns tests, confirms clean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9816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Agents that don't depend on each other run **in parallel** (Phase 5)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Critical/important issues from review are fixed before completion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The whole cycle is automated — you start it and review the result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How Agents Work Together — `/expert-review`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The /expert-review command launches 3 agents in parallel: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8160"/>
            <a:ext cx="10698480" cy="20574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/expert-review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@code-reviewer   → "Are there security gaps? Naming violations?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      Odoo 19 anti-patterns?"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@ux-expert       → "Do forms follow the project layout conventions?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      Are there accessibility issues?"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- @verify-module   → "Does the module install? Do all tests pass?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      Any print() or bare except: in the code?"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97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Output is a consolidated report: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0596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Critical</a:t>
            </a:r>
            <a:r>
              <a:rPr sz="1300">
                <a:solidFill>
                  <a:srgbClr val="2D2D2D"/>
                </a:solidFill>
                <a:latin typeface="Calibri"/>
              </a:rPr>
              <a:t> issues → must fix before merge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Important</a:t>
            </a:r>
            <a:r>
              <a:rPr sz="1300">
                <a:solidFill>
                  <a:srgbClr val="2D2D2D"/>
                </a:solidFill>
                <a:latin typeface="Calibri"/>
              </a:rPr>
              <a:t> issues → should fix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Suggestions</a:t>
            </a:r>
            <a:r>
              <a:rPr sz="1300">
                <a:solidFill>
                  <a:srgbClr val="2D2D2D"/>
                </a:solidFill>
                <a:latin typeface="Calibri"/>
              </a:rPr>
              <a:t> → nice to have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Agent Best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When to use agents: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816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`/implement` for any feature touching &gt;2 files — agents handle the full TDD cycle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`/expert-review` before every PR — catches issues you might miss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`/verify-tests` after any subagent work — confirms no tests were weakened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31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How to get the best results: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39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Plan before implementing</a:t>
            </a:r>
            <a:r>
              <a:rPr sz="1300">
                <a:solidFill>
                  <a:srgbClr val="2D2D2D"/>
                </a:solidFill>
                <a:latin typeface="Calibri"/>
              </a:rPr>
              <a:t> — agents follow plans much better than vague instructions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Be specific about what you want</a:t>
            </a:r>
            <a:r>
              <a:rPr sz="1300">
                <a:solidFill>
                  <a:srgbClr val="2D2D2D"/>
                </a:solidFill>
                <a:latin typeface="Calibri"/>
              </a:rPr>
              <a:t> — "add a `student_number` field to `res.partner` with a uniqueness constraint" beats "add a field"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Review agent output</a:t>
            </a:r>
            <a:r>
              <a:rPr sz="1300">
                <a:solidFill>
                  <a:srgbClr val="2D2D2D"/>
                </a:solidFill>
                <a:latin typeface="Calibri"/>
              </a:rPr>
              <a:t> — agents are good but not infallible; read the code they produce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Fix critical review findings</a:t>
            </a:r>
            <a:r>
              <a:rPr sz="1300">
                <a:solidFill>
                  <a:srgbClr val="2D2D2D"/>
                </a:solidFill>
                <a:latin typeface="Calibri"/>
              </a:rPr>
              <a:t> — don't ignore `@code-reviewer` warnings about missing ACLs or security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61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What agents can't do: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6956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Make architectural decisions for you — use Plan mode for that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Replace understanding — you need to know *what* you're building; agents help with *how*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Guarantee correctness — always run tests (`./odoo-project test`) as the final verification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Slash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Command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/implement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After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Full TDD workflow with subagents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/verify-tests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After changes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Check test integrity (catch removed tests)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/commit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Before 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Conventional commit with staged changes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/pr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After commit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Create GitHub Pull Request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/expert-review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For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Parallel review from 3 perspectives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/analyze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Debugging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Deep analysis without code changes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Why Plan Before You Build?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Code is expensive to change — a wrong direction costs hours of rework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Plans are cheap to change — a wrong sentence costs seconds to fix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Without a plan</a:t>
            </a:r>
            <a:r>
              <a:rPr sz="1300">
                <a:solidFill>
                  <a:srgbClr val="2D2D2D"/>
                </a:solidFill>
                <a:latin typeface="Calibri"/>
              </a:rPr>
              <a:t>: Claude jumps straight to code, may solve the wrong problem, touch the wrong files, or miss edge cases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With a plan</a:t>
            </a:r>
            <a:r>
              <a:rPr sz="1300">
                <a:solidFill>
                  <a:srgbClr val="2D2D2D"/>
                </a:solidFill>
                <a:latin typeface="Calibri"/>
              </a:rPr>
              <a:t>: Claude researches first, proposes an approach, you review and correct *before* any code is written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702560"/>
          <a:ext cx="106984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Plan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Plan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"Add enrollment tracking"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Claude guesses the model structure, writes code, you find it's wrong, start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Claude proposes models + fields + relations, you adjust, then one-shot implementation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"Fix the security error"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Claude patches the symptom, breaks something else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Claude analyzes the root cause, identifies all affected files, fixes correctly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"Add a portal page"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Claude creates controllers + templates, misses record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Plan includes controller, templates, AND security — nothing forgotten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35120"/>
            <a:ext cx="1069848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Plans also survive **context compression** — if a conversation gets long, Claude's earlier research may be lost, but a written plan persists as a file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Rule of thumb: **if it touches more than 2 files, plan first**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Plan Mode —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Enter Plan mode: press Shift+Tab twice (or type plan in the prompt)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1788160"/>
            <a:ext cx="7315200" cy="3474720"/>
          </a:xfrm>
          <a:prstGeom prst="roundRect">
            <a:avLst>
              <a:gd name="adj" fmla="val 4000"/>
            </a:avLst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2D2D2D"/>
                </a:solidFill>
                <a:latin typeface="Calibri"/>
              </a:defRPr>
            </a:pPr>
            <a:r>
              <a:t>PLAN MODE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Claude CAN: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  ✓  Read files (Glob, Grep, Read)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  ✓  Search the codebase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  ✓  Analyze existing code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  ✓  Propose an implementation approach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Claude CANNOT: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  ✗  Write or edit files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  ✗  Run commands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  ✗  Make any changes to the codebase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200">
                <a:solidFill>
                  <a:srgbClr val="2D2D2D"/>
                </a:solidFill>
                <a:latin typeface="Calibri"/>
              </a:defRPr>
            </a:pPr>
            <a:r>
              <a:t>Exit: Shift+Tab twice (or approve the plan)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1528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Plan mode is **read-only** — Claude explores but can't break anything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You stay in control — review, adjust, and approve before implementation starts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Plans are written to a file so you can annotate them with inline comments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Anatomy of a Good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A plan Claude produces typically includes: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8160"/>
            <a:ext cx="10698480" cy="5715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Files Modified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Implementation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Open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Plan Mode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Example workflow: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8160"/>
            <a:ext cx="10698480" cy="36576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You:    "I want to add a course prerequisites feature — courses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that must be completed before enrolling in another course."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[Enter Plan mode: Shift+Tab twice]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Claude: Researches sis_course model, sis_enrollment model,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existing views, security setup...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Claude: Proposes plan: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- Add self-referential M2M on sis.course (prerequisite_ids)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- Add validation in sis.enrollment.action_enroll()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- Update course form view with prerequisites tab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- Add tests for prerequisite enforcement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You:    "Looks good, but also show prerequisites on the portal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detail page."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Claude: Updates plan to include portal template changes.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You:    [Approve plan → Exit plan mode]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Claude: Implements exactly what was agreed.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98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Tips for working with plans: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0616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Ask Claude to write the plan to a file</a:t>
            </a:r>
            <a:r>
              <a:rPr sz="1300">
                <a:solidFill>
                  <a:srgbClr val="2D2D2D"/>
                </a:solidFill>
                <a:latin typeface="Calibri"/>
              </a:rPr>
              <a:t> — this makes it persistent and reviewable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Annotate with inline comments</a:t>
            </a:r>
            <a:r>
              <a:rPr sz="1300">
                <a:solidFill>
                  <a:srgbClr val="2D2D2D"/>
                </a:solidFill>
                <a:latin typeface="Calibri"/>
              </a:rPr>
              <a:t> — Claude will address your notes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Iterate</a:t>
            </a:r>
            <a:r>
              <a:rPr sz="1300">
                <a:solidFill>
                  <a:srgbClr val="2D2D2D"/>
                </a:solidFill>
                <a:latin typeface="Calibri"/>
              </a:rPr>
              <a:t> — a good plan may take 2-3 rounds; that's faster than rewriting code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Don't skip planning for "simple" features</a:t>
            </a:r>
            <a:r>
              <a:rPr sz="1300">
                <a:solidFill>
                  <a:srgbClr val="2D2D2D"/>
                </a:solidFill>
                <a:latin typeface="Calibri"/>
              </a:rPr>
              <a:t> — many "simple" features turn out to touch security, views, and tests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The TDD Workflow with Claude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397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1. Plan mode (Shift+Tab twice)     → Design approach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2. /implement                       → Write tests first, then code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3. /verify-tests                    → Confirm no tests removed/weakened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4. /expert-review                   → Security + UX + verification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5. /commit                          → Conventional commit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6. /pr                              → Open Pull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29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Planning is step 1 for a reason — everything downstream depends on it.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Working with Claude Code —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Be specific</a:t>
            </a:r>
            <a:r>
              <a:rPr sz="1300">
                <a:solidFill>
                  <a:srgbClr val="2D2D2D"/>
                </a:solidFill>
                <a:latin typeface="Calibri"/>
              </a:rPr>
              <a:t>: "Add a `student_number` field to `res.partner`" &gt; "add a field"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Plan first</a:t>
            </a:r>
            <a:r>
              <a:rPr sz="1300">
                <a:solidFill>
                  <a:srgbClr val="2D2D2D"/>
                </a:solidFill>
                <a:latin typeface="Calibri"/>
              </a:rPr>
              <a:t>: Use Plan mode for anything touching &gt;2 files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Trust but verify</a:t>
            </a:r>
            <a:r>
              <a:rPr sz="1300">
                <a:solidFill>
                  <a:srgbClr val="2D2D2D"/>
                </a:solidFill>
                <a:latin typeface="Calibri"/>
              </a:rPr>
              <a:t>: Always run tests after AI-generated code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Read the rules</a:t>
            </a:r>
            <a:r>
              <a:rPr sz="1300">
                <a:solidFill>
                  <a:srgbClr val="2D2D2D"/>
                </a:solidFill>
                <a:latin typeface="Calibri"/>
              </a:rPr>
              <a:t>: `.claude/rules/` files are summaries; deep dives in `docs/principles/`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Iterate</a:t>
            </a:r>
            <a:r>
              <a:rPr sz="1300">
                <a:solidFill>
                  <a:srgbClr val="2D2D2D"/>
                </a:solidFill>
                <a:latin typeface="Calibri"/>
              </a:rPr>
              <a:t>: Claude Code handles multi-step workflows — use `/implement` for full cycles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Demo — Live Claude Code Session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Live demo: create a simple model using Claude Code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Show Plan mode → `/implement` → `/verify-tests` → `/commit`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Highlight how rules auto-load based on file being edited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Section 4: Template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Module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965960" y="1280160"/>
            <a:ext cx="8229600" cy="640080"/>
          </a:xfrm>
          <a:prstGeom prst="roundRect">
            <a:avLst>
              <a:gd name="adj" fmla="val 4000"/>
            </a:avLst>
          </a:prstGeom>
          <a:solidFill>
            <a:srgbClr val="F3E8FD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D2D2D"/>
                </a:solidFill>
                <a:latin typeface="Calibri"/>
              </a:defRPr>
            </a:pPr>
            <a:r>
              <a:t>Layer 3:  DOMAIN EXTENSIONS    (sis_reports, sis_api)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66460" y="2057400"/>
            <a:ext cx="228600" cy="228600"/>
          </a:xfrm>
          <a:prstGeom prst="down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65960" y="2423160"/>
            <a:ext cx="8229600" cy="640080"/>
          </a:xfrm>
          <a:prstGeom prst="roundRect">
            <a:avLst>
              <a:gd name="adj" fmla="val 4000"/>
            </a:avLst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D2D2D"/>
                </a:solidFill>
                <a:latin typeface="Calibri"/>
              </a:defRPr>
            </a:pPr>
            <a:r>
              <a:t>Layer 2:  DOMAIN CORE    (sis_student, sis_course, sis_enrollment)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66460" y="3200400"/>
            <a:ext cx="228600" cy="228600"/>
          </a:xfrm>
          <a:prstGeom prst="down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65960" y="3566160"/>
            <a:ext cx="8229600" cy="640080"/>
          </a:xfrm>
          <a:prstGeom prst="roundRect">
            <a:avLst>
              <a:gd name="adj" fmla="val 4000"/>
            </a:avLst>
          </a:prstGeom>
          <a:solidFill>
            <a:srgbClr val="E8FDE8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D2D2D"/>
                </a:solidFill>
                <a:latin typeface="Calibri"/>
              </a:defRPr>
            </a:pPr>
            <a:r>
              <a:t>Layer 1:  FOUNDATION    (sis_security, sis_vocabulary)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66460" y="4343400"/>
            <a:ext cx="228600" cy="228600"/>
          </a:xfrm>
          <a:prstGeom prst="down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65960" y="4709160"/>
            <a:ext cx="8229600" cy="6400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D2D2D"/>
                </a:solidFill>
                <a:latin typeface="Calibri"/>
              </a:defRPr>
            </a:pPr>
            <a:r>
              <a:t>Layer 0:  ODOO CORE    (base, hr, stock, account, portal)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0164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Dependencies flow **downward** only — never upward or circular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Foundation modules are shared infrastructure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Domain modules implement business logic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Extensions add cross-cutting features (reports, APIs)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Naming Conventions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Module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{prefix}_{domain}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sis_student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Python model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{prefix}.{domain}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sis.course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Boolean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is_ / has_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is_student, has_enrollment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Many2one fields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{model}_id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course_id, student_id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One2many / M2M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{model}_ids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enrollment_ids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Date fields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_date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enrollment_date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XML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descriptive, no abbreviations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menu_sis_configuration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The `init` Command — Bootstrapping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5715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./odoo-project init sis "Student Information System"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040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This transforms the template: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512060"/>
          <a:ext cx="10698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From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tpl_vocabulary/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sis_vocabulary/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tpl.vocabulary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sis.vocabulary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model_tpl_vocabulary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model_sis_vocabulary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{Project}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Student Information System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264660"/>
            <a:ext cx="1069848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Renames directories, updates all references in `.py`, `.xml`, `.csv`, `.md`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Run once — then build your own modules on top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The Vocabulary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Problem: fields.Selection is hard-coded — can't change options without code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8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Solution: sis.vocabulary.code — a managed code list in the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96160"/>
            <a:ext cx="10698480" cy="17272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# Instead of: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gender = fields.Selection([("male", "Male"), ("female", "Female")])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# Use: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gender_id = fields.Many2one(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"sis.vocabulary.code",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domain="[('namespace_uri', '=', 'urn:iso:std:iso:5218')]",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75760"/>
            <a:ext cx="10698480" cy="104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Vocabularies group codes by `namespace_uri` (e.g., `urn:iso:std:iso:5218` for ISO Gender)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Admins can manage codes through the UI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System vocabularies are protected from modification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Three-Tier Security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965960" y="1280160"/>
            <a:ext cx="8229600" cy="914400"/>
          </a:xfrm>
          <a:prstGeom prst="roundRect">
            <a:avLst>
              <a:gd name="adj" fmla="val 4000"/>
            </a:avLst>
          </a:prstGeom>
          <a:solidFill>
            <a:srgbClr val="F3E8FD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D2D2D"/>
                </a:solidFill>
                <a:latin typeface="Calibri"/>
              </a:defRPr>
            </a:pPr>
            <a:r>
              <a:t>Tier 1:  ROLES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Composite, cross-domain.  Example: 'Field Officer'</a:t>
            </a:r>
          </a:p>
        </p:txBody>
      </p:sp>
      <p:sp>
        <p:nvSpPr>
          <p:cNvPr id="5" name="Up Arrow 4"/>
          <p:cNvSpPr/>
          <p:nvPr/>
        </p:nvSpPr>
        <p:spPr>
          <a:xfrm>
            <a:off x="5966460" y="2286000"/>
            <a:ext cx="228600" cy="228600"/>
          </a:xfrm>
          <a:prstGeom prst="up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65960" y="2606040"/>
            <a:ext cx="8229600" cy="914400"/>
          </a:xfrm>
          <a:prstGeom prst="roundRect">
            <a:avLst>
              <a:gd name="adj" fmla="val 4000"/>
            </a:avLst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D2D2D"/>
                </a:solidFill>
                <a:latin typeface="Calibri"/>
              </a:defRPr>
            </a:pPr>
            <a:r>
              <a:t>Tier 2:  FUNCTIONAL PRIVILEGES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Per domain: viewer → officer → manager</a:t>
            </a:r>
          </a:p>
        </p:txBody>
      </p:sp>
      <p:sp>
        <p:nvSpPr>
          <p:cNvPr id="7" name="Up Arrow 6"/>
          <p:cNvSpPr/>
          <p:nvPr/>
        </p:nvSpPr>
        <p:spPr>
          <a:xfrm>
            <a:off x="5966460" y="3611880"/>
            <a:ext cx="228600" cy="228600"/>
          </a:xfrm>
          <a:prstGeom prst="upArrow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65960" y="3931920"/>
            <a:ext cx="8229600" cy="914400"/>
          </a:xfrm>
          <a:prstGeom prst="roundRect">
            <a:avLst>
              <a:gd name="adj" fmla="val 4000"/>
            </a:avLst>
          </a:prstGeom>
          <a:solidFill>
            <a:srgbClr val="E8FDE8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D2D2D"/>
                </a:solidFill>
                <a:latin typeface="Calibri"/>
              </a:defRPr>
            </a:pPr>
            <a:r>
              <a:t>Tier 3:  BASE PERMISSIONS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Technical, granular: read, write, create, delete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98720"/>
            <a:ext cx="1069848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Viewer</a:t>
            </a:r>
            <a:r>
              <a:rPr sz="1300">
                <a:solidFill>
                  <a:srgbClr val="2D2D2D"/>
                </a:solidFill>
                <a:latin typeface="Calibri"/>
              </a:rPr>
              <a:t>: read-only access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Officer</a:t>
            </a:r>
            <a:r>
              <a:rPr sz="1300">
                <a:solidFill>
                  <a:srgbClr val="2D2D2D"/>
                </a:solidFill>
                <a:latin typeface="Calibri"/>
              </a:rPr>
              <a:t>: create, read, write (no delete)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Manager</a:t>
            </a:r>
            <a:r>
              <a:rPr sz="1300">
                <a:solidFill>
                  <a:srgbClr val="2D2D2D"/>
                </a:solidFill>
                <a:latin typeface="Calibri"/>
              </a:rPr>
              <a:t>: full CRUD + admin functions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D2D2D"/>
                </a:solidFill>
                <a:latin typeface="Calibri"/>
              </a:rPr>
              <a:t>Admin</a:t>
            </a:r>
            <a:r>
              <a:rPr sz="1300">
                <a:solidFill>
                  <a:srgbClr val="2D2D2D"/>
                </a:solidFill>
                <a:latin typeface="Calibri"/>
              </a:rPr>
              <a:t> (`base.group_system`): unrestricted — every model must grant this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Security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Three layers to configure per module: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8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1. Groups (security/security_groups.xml)    - Define viewer, officer, manager groups    - Use privilege_id (Odoo 19) for privilege hierarchy    - Groups imply each other: manager → officer → 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96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2. ACLs (security/ir.model.access.csv)    - First row: base.group_system with full CRUD    - Then: viewer (read), officer (read/write/create), manager (full CRUD)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04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3. Record Rules (optional, for row-level filtering)    - e.g., "users can only see records in their company"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Section 5: Hands-On Preview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What We're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Student Information System (SIS) — 4 modules + portal: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8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1. sis_student — Student records (extends res.partner) 2. sis_course — Course catalog (standalone model) 3. sis_enrollment — Student-course links with state machine 4. sis_portal — Web frontend for students to view enrollments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Module Dependency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7272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sis_portal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- portal (Odoo)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- sis_enrollment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- sis_student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- sis_vocabulary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- base (Odoo)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- sis_course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- base (Odoo)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Patterns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(setup)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init, doctor, start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sis_student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Inherit &amp; extend, vocabulary fields, three-tier security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sis_course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Standalone model, CRUD, views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sis_enrollment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State machine, M2O relations, SQL constraints</a:t>
                      </a:r>
                    </a:p>
                  </a:txBody>
                  <a:tcPr>
                    <a:solidFill>
                      <a:srgbClr val="F0F6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sis_portal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Controllers, QWeb templates, portal security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ACC"/>
                </a:solidFill>
                <a:latin typeface="Calibri"/>
              </a:defRPr>
            </a:pPr>
            <a:r>
              <a:t>Expected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8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4 installed modules with passing tests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Student records extending contacts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Course catalog with list/form views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Enrollment with draft → enrolled → completed/dropped flow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Web portal at `/my/enrollments` for logged-in students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All secured with three-tier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61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Let's get started!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7ACC"/>
                </a:solidFill>
                <a:latin typeface="Calibri"/>
              </a:defRPr>
            </a:pPr>
            <a:r>
              <a:t>Time for hands-on!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